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TT Interphases" panose="020B0604020202020204" charset="0"/>
      <p:regular r:id="rId20"/>
    </p:embeddedFont>
    <p:embeddedFont>
      <p:font typeface="TT Interphase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E5C33-32AF-420F-A87F-F27E34C33C88}" type="datetimeFigureOut">
              <a:rPr lang="en-GB" smtClean="0"/>
              <a:t>06/04/2026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40C64-25B8-4D60-93BE-5BF8BCAB5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46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This dashboard provides a centralized and interactive view of:</a:t>
            </a:r>
          </a:p>
          <a:p>
            <a:pPr marL="647698" lvl="1" indent="-323849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Revenue, sales, and call efficiency</a:t>
            </a:r>
          </a:p>
          <a:p>
            <a:pPr marL="647698" lvl="1" indent="-323849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Regional and salesperson performance</a:t>
            </a:r>
          </a:p>
          <a:p>
            <a:pPr marL="647698" lvl="1" indent="-323849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Customer satisfaction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40C64-25B8-4D60-93BE-5BF8BCAB5B2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617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3693" y="-433592"/>
            <a:ext cx="19574302" cy="11154184"/>
          </a:xfrm>
          <a:custGeom>
            <a:avLst/>
            <a:gdLst/>
            <a:ahLst/>
            <a:cxnLst/>
            <a:rect l="l" t="t" r="r" b="b"/>
            <a:pathLst>
              <a:path w="19574302" h="11154184">
                <a:moveTo>
                  <a:pt x="0" y="0"/>
                </a:moveTo>
                <a:lnTo>
                  <a:pt x="19574303" y="0"/>
                </a:lnTo>
                <a:lnTo>
                  <a:pt x="19574303" y="11154184"/>
                </a:lnTo>
                <a:lnTo>
                  <a:pt x="0" y="111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59" b="-8459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 flipH="1">
            <a:off x="-7630778" y="-216796"/>
            <a:ext cx="16066282" cy="10720592"/>
          </a:xfrm>
          <a:custGeom>
            <a:avLst/>
            <a:gdLst/>
            <a:ahLst/>
            <a:cxnLst/>
            <a:rect l="l" t="t" r="r" b="b"/>
            <a:pathLst>
              <a:path w="16066282" h="10720592">
                <a:moveTo>
                  <a:pt x="16066283" y="0"/>
                </a:moveTo>
                <a:lnTo>
                  <a:pt x="0" y="0"/>
                </a:lnTo>
                <a:lnTo>
                  <a:pt x="0" y="10720592"/>
                </a:lnTo>
                <a:lnTo>
                  <a:pt x="16066283" y="10720592"/>
                </a:lnTo>
                <a:lnTo>
                  <a:pt x="1606628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8878688" y="4231957"/>
            <a:ext cx="8380612" cy="1975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5600" spc="-257" dirty="0">
                <a:solidFill>
                  <a:srgbClr val="1800AD"/>
                </a:solidFill>
                <a:latin typeface="Georgia" panose="02040502050405020303" pitchFamily="18" charset="0"/>
                <a:ea typeface="TT Interphases"/>
                <a:cs typeface="TT Interphases"/>
                <a:sym typeface="TT Interphases"/>
              </a:rPr>
              <a:t>Sales Performance Dashboard – Swift Cart Hub</a:t>
            </a:r>
          </a:p>
          <a:p>
            <a:pPr marL="0" lvl="1" indent="0" algn="l">
              <a:lnSpc>
                <a:spcPts val="5040"/>
              </a:lnSpc>
            </a:pPr>
            <a:r>
              <a:rPr lang="en-US" sz="5600" spc="-257" dirty="0">
                <a:solidFill>
                  <a:srgbClr val="1800AD"/>
                </a:solidFill>
                <a:latin typeface="Georgia" panose="02040502050405020303" pitchFamily="18" charset="0"/>
                <a:ea typeface="TT Interphases"/>
                <a:cs typeface="TT Interphases"/>
                <a:sym typeface="TT Interphases"/>
              </a:rPr>
              <a:t>Data Analytics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78688" y="3061244"/>
            <a:ext cx="5659747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700"/>
              </a:lnSpc>
            </a:pPr>
            <a:r>
              <a:rPr lang="en-US" sz="3000" b="1" spc="-138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Kuroyefa Leghemo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6506" y="2370504"/>
            <a:ext cx="7500819" cy="570557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19200" y="3431420"/>
            <a:ext cx="7924800" cy="652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040"/>
              </a:lnSpc>
            </a:pPr>
            <a:r>
              <a:rPr lang="en-US" sz="5600" spc="-257" dirty="0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5600" b="1" spc="-257" dirty="0">
                <a:solidFill>
                  <a:srgbClr val="1800AD"/>
                </a:solidFill>
                <a:latin typeface="Georgia" panose="02040502050405020303" pitchFamily="18" charset="0"/>
                <a:ea typeface="TT Interphases"/>
                <a:cs typeface="TT Interphases"/>
                <a:sym typeface="TT Interphases"/>
              </a:rPr>
              <a:t>Business Context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5743527"/>
            <a:ext cx="7635008" cy="368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Swift Cart Hub operates in a competitive e-commerce environment where tracking sales, customer interactions, and operational efficiency is critical.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However, decision-making is limited without a centralized view of performance metrics.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999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0" y="3631050"/>
            <a:ext cx="7924800" cy="65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040"/>
              </a:lnSpc>
            </a:pPr>
            <a:r>
              <a:rPr lang="en-US" sz="5600" b="1" spc="-257" dirty="0">
                <a:solidFill>
                  <a:srgbClr val="1800AD"/>
                </a:solidFill>
                <a:latin typeface="Georgia" panose="02040502050405020303" pitchFamily="18" charset="0"/>
                <a:ea typeface="TT Interphases"/>
                <a:cs typeface="TT Interphases"/>
                <a:sym typeface="TT Interphases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0" y="4914433"/>
            <a:ext cx="7635008" cy="372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Lack of centralized analytics dashboard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Difficulty tracking key performance indicators (KPIs)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Limited visibility into sales and regional performance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Inefficient decision-making due to fragmented data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251" y="1218780"/>
            <a:ext cx="8539631" cy="8340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B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4217" y="3626118"/>
            <a:ext cx="9779565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b="1" spc="-257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44453" y="5105400"/>
            <a:ext cx="11599094" cy="300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endParaRPr dirty="0"/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Develop an interactive Excel dashboard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Centralize key business metrics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Enable KPI monitoring and trend analysis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dirty="0">
                <a:solidFill>
                  <a:srgbClr val="1800AD"/>
                </a:solidFill>
                <a:latin typeface="Georgia" panose="02040502050405020303" pitchFamily="18" charset="0"/>
                <a:ea typeface="TT Interphases Bold"/>
                <a:cs typeface="TT Interphases Bold"/>
                <a:sym typeface="TT Interphases Bold"/>
              </a:rPr>
              <a:t>Support data-driven decision-making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3099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02362" y="4028229"/>
            <a:ext cx="3057181" cy="4944885"/>
            <a:chOff x="0" y="0"/>
            <a:chExt cx="805184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5184" cy="1302357"/>
            </a:xfrm>
            <a:custGeom>
              <a:avLst/>
              <a:gdLst/>
              <a:ahLst/>
              <a:cxnLst/>
              <a:rect l="l" t="t" r="r" b="b"/>
              <a:pathLst>
                <a:path w="805184" h="1302357">
                  <a:moveTo>
                    <a:pt x="20259" y="0"/>
                  </a:moveTo>
                  <a:lnTo>
                    <a:pt x="784925" y="0"/>
                  </a:lnTo>
                  <a:cubicBezTo>
                    <a:pt x="796113" y="0"/>
                    <a:pt x="805184" y="9070"/>
                    <a:pt x="805184" y="20259"/>
                  </a:cubicBezTo>
                  <a:lnTo>
                    <a:pt x="805184" y="1282098"/>
                  </a:lnTo>
                  <a:cubicBezTo>
                    <a:pt x="805184" y="1293286"/>
                    <a:pt x="796113" y="1302357"/>
                    <a:pt x="784925" y="1302357"/>
                  </a:cubicBezTo>
                  <a:lnTo>
                    <a:pt x="20259" y="1302357"/>
                  </a:lnTo>
                  <a:cubicBezTo>
                    <a:pt x="9070" y="1302357"/>
                    <a:pt x="0" y="1293286"/>
                    <a:pt x="0" y="1282098"/>
                  </a:cubicBezTo>
                  <a:lnTo>
                    <a:pt x="0" y="20259"/>
                  </a:lnTo>
                  <a:cubicBezTo>
                    <a:pt x="0" y="9070"/>
                    <a:pt x="9070" y="0"/>
                    <a:pt x="20259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05184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2024" y="4028229"/>
            <a:ext cx="3127282" cy="4944885"/>
            <a:chOff x="0" y="0"/>
            <a:chExt cx="823646" cy="1302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3646" cy="1302357"/>
            </a:xfrm>
            <a:custGeom>
              <a:avLst/>
              <a:gdLst/>
              <a:ahLst/>
              <a:cxnLst/>
              <a:rect l="l" t="t" r="r" b="b"/>
              <a:pathLst>
                <a:path w="823646" h="1302357">
                  <a:moveTo>
                    <a:pt x="19805" y="0"/>
                  </a:moveTo>
                  <a:lnTo>
                    <a:pt x="803841" y="0"/>
                  </a:lnTo>
                  <a:cubicBezTo>
                    <a:pt x="814779" y="0"/>
                    <a:pt x="823646" y="8867"/>
                    <a:pt x="823646" y="19805"/>
                  </a:cubicBezTo>
                  <a:lnTo>
                    <a:pt x="823646" y="1282552"/>
                  </a:lnTo>
                  <a:cubicBezTo>
                    <a:pt x="823646" y="1287804"/>
                    <a:pt x="821560" y="1292842"/>
                    <a:pt x="817846" y="1296556"/>
                  </a:cubicBezTo>
                  <a:cubicBezTo>
                    <a:pt x="814132" y="1300270"/>
                    <a:pt x="809094" y="1302357"/>
                    <a:pt x="803841" y="1302357"/>
                  </a:cubicBezTo>
                  <a:lnTo>
                    <a:pt x="19805" y="1302357"/>
                  </a:lnTo>
                  <a:cubicBezTo>
                    <a:pt x="14552" y="1302357"/>
                    <a:pt x="9515" y="1300270"/>
                    <a:pt x="5801" y="1296556"/>
                  </a:cubicBezTo>
                  <a:cubicBezTo>
                    <a:pt x="2087" y="1292842"/>
                    <a:pt x="0" y="1287804"/>
                    <a:pt x="0" y="1282552"/>
                  </a:cubicBezTo>
                  <a:lnTo>
                    <a:pt x="0" y="19805"/>
                  </a:lnTo>
                  <a:cubicBezTo>
                    <a:pt x="0" y="14552"/>
                    <a:pt x="2087" y="9515"/>
                    <a:pt x="5801" y="5801"/>
                  </a:cubicBezTo>
                  <a:cubicBezTo>
                    <a:pt x="9515" y="2087"/>
                    <a:pt x="14552" y="0"/>
                    <a:pt x="19805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23646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15665" y="2089616"/>
            <a:ext cx="13856669" cy="65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b="1" spc="-257" dirty="0">
                <a:solidFill>
                  <a:srgbClr val="1800AD"/>
                </a:solidFill>
                <a:latin typeface="Georgia" panose="02040502050405020303" pitchFamily="18" charset="0"/>
                <a:ea typeface="TT Interphases"/>
                <a:cs typeface="TT Interphases"/>
                <a:sym typeface="TT Interphases"/>
              </a:rPr>
              <a:t>Key Business Questions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870132"/>
            <a:ext cx="2420710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20598" y="4870132"/>
            <a:ext cx="2420710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5414" y="6181267"/>
            <a:ext cx="3127282" cy="134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How is revenue trending over time?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02362" y="6181267"/>
            <a:ext cx="2849427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Which regions generate the most sales?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15409" y="4028229"/>
            <a:ext cx="3057181" cy="4944885"/>
            <a:chOff x="0" y="0"/>
            <a:chExt cx="805184" cy="13023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5184" cy="1302357"/>
            </a:xfrm>
            <a:custGeom>
              <a:avLst/>
              <a:gdLst/>
              <a:ahLst/>
              <a:cxnLst/>
              <a:rect l="l" t="t" r="r" b="b"/>
              <a:pathLst>
                <a:path w="805184" h="1302357">
                  <a:moveTo>
                    <a:pt x="20259" y="0"/>
                  </a:moveTo>
                  <a:lnTo>
                    <a:pt x="784925" y="0"/>
                  </a:lnTo>
                  <a:cubicBezTo>
                    <a:pt x="796113" y="0"/>
                    <a:pt x="805184" y="9070"/>
                    <a:pt x="805184" y="20259"/>
                  </a:cubicBezTo>
                  <a:lnTo>
                    <a:pt x="805184" y="1282098"/>
                  </a:lnTo>
                  <a:cubicBezTo>
                    <a:pt x="805184" y="1293286"/>
                    <a:pt x="796113" y="1302357"/>
                    <a:pt x="784925" y="1302357"/>
                  </a:cubicBezTo>
                  <a:lnTo>
                    <a:pt x="20259" y="1302357"/>
                  </a:lnTo>
                  <a:cubicBezTo>
                    <a:pt x="9070" y="1302357"/>
                    <a:pt x="0" y="1293286"/>
                    <a:pt x="0" y="1282098"/>
                  </a:cubicBezTo>
                  <a:lnTo>
                    <a:pt x="0" y="20259"/>
                  </a:lnTo>
                  <a:cubicBezTo>
                    <a:pt x="0" y="9070"/>
                    <a:pt x="9070" y="0"/>
                    <a:pt x="20259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05184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129791" y="4028229"/>
            <a:ext cx="3057181" cy="4944885"/>
            <a:chOff x="0" y="0"/>
            <a:chExt cx="805184" cy="13023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5184" cy="1302357"/>
            </a:xfrm>
            <a:custGeom>
              <a:avLst/>
              <a:gdLst/>
              <a:ahLst/>
              <a:cxnLst/>
              <a:rect l="l" t="t" r="r" b="b"/>
              <a:pathLst>
                <a:path w="805184" h="1302357">
                  <a:moveTo>
                    <a:pt x="20259" y="0"/>
                  </a:moveTo>
                  <a:lnTo>
                    <a:pt x="784925" y="0"/>
                  </a:lnTo>
                  <a:cubicBezTo>
                    <a:pt x="796113" y="0"/>
                    <a:pt x="805184" y="9070"/>
                    <a:pt x="805184" y="20259"/>
                  </a:cubicBezTo>
                  <a:lnTo>
                    <a:pt x="805184" y="1282098"/>
                  </a:lnTo>
                  <a:cubicBezTo>
                    <a:pt x="805184" y="1293286"/>
                    <a:pt x="796113" y="1302357"/>
                    <a:pt x="784925" y="1302357"/>
                  </a:cubicBezTo>
                  <a:lnTo>
                    <a:pt x="20259" y="1302357"/>
                  </a:lnTo>
                  <a:cubicBezTo>
                    <a:pt x="9070" y="1302357"/>
                    <a:pt x="0" y="1293286"/>
                    <a:pt x="0" y="1282098"/>
                  </a:cubicBezTo>
                  <a:lnTo>
                    <a:pt x="0" y="20259"/>
                  </a:lnTo>
                  <a:cubicBezTo>
                    <a:pt x="0" y="9070"/>
                    <a:pt x="9070" y="0"/>
                    <a:pt x="20259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05184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543744" y="4028229"/>
            <a:ext cx="3057181" cy="4944885"/>
            <a:chOff x="0" y="0"/>
            <a:chExt cx="805184" cy="13023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05184" cy="1302357"/>
            </a:xfrm>
            <a:custGeom>
              <a:avLst/>
              <a:gdLst/>
              <a:ahLst/>
              <a:cxnLst/>
              <a:rect l="l" t="t" r="r" b="b"/>
              <a:pathLst>
                <a:path w="805184" h="1302357">
                  <a:moveTo>
                    <a:pt x="20259" y="0"/>
                  </a:moveTo>
                  <a:lnTo>
                    <a:pt x="784925" y="0"/>
                  </a:lnTo>
                  <a:cubicBezTo>
                    <a:pt x="796113" y="0"/>
                    <a:pt x="805184" y="9070"/>
                    <a:pt x="805184" y="20259"/>
                  </a:cubicBezTo>
                  <a:lnTo>
                    <a:pt x="805184" y="1282098"/>
                  </a:lnTo>
                  <a:cubicBezTo>
                    <a:pt x="805184" y="1293286"/>
                    <a:pt x="796113" y="1302357"/>
                    <a:pt x="784925" y="1302357"/>
                  </a:cubicBezTo>
                  <a:lnTo>
                    <a:pt x="20259" y="1302357"/>
                  </a:lnTo>
                  <a:cubicBezTo>
                    <a:pt x="9070" y="1302357"/>
                    <a:pt x="0" y="1293286"/>
                    <a:pt x="0" y="1282098"/>
                  </a:cubicBezTo>
                  <a:lnTo>
                    <a:pt x="0" y="20259"/>
                  </a:lnTo>
                  <a:cubicBezTo>
                    <a:pt x="0" y="9070"/>
                    <a:pt x="9070" y="0"/>
                    <a:pt x="20259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05184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933645" y="4870132"/>
            <a:ext cx="2420710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03.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97813" y="4870132"/>
            <a:ext cx="2420710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04.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861980" y="4870132"/>
            <a:ext cx="2420710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05.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12279" y="6181267"/>
            <a:ext cx="2849427" cy="180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Who are the top-performing sales representatives?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28456" y="6181267"/>
            <a:ext cx="2849427" cy="2270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How efficient are customer interactions (call time vs sales)?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41503" y="6181267"/>
            <a:ext cx="2849427" cy="181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What is the current level of customer satisfaction</a:t>
            </a:r>
            <a:r>
              <a:rPr lang="en-US" sz="2600" b="1" dirty="0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8686"/>
            <a:ext cx="7223569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040"/>
              </a:lnSpc>
            </a:pPr>
            <a:r>
              <a:rPr lang="en-US" sz="5600" spc="-257" dirty="0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D98BD-8CD1-D5CB-BE46-41BFC64FF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9" y="1866900"/>
            <a:ext cx="18193231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21760" y="4785095"/>
            <a:ext cx="12853125" cy="255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6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Total Revenue: $8.7M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6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Total Sales: 2,739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6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Average Call Time: 7.7 hours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6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Customer Satisfaction Score: 0.75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999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431909" y="2836558"/>
            <a:ext cx="9424182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40"/>
              </a:lnSpc>
            </a:pPr>
            <a:r>
              <a:rPr lang="en-US" sz="5600" b="1" spc="-257">
                <a:solidFill>
                  <a:srgbClr val="1800A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Key Metrics (KPIs)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87441" y="2958361"/>
            <a:ext cx="6253164" cy="5841351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23950" y="1314450"/>
            <a:ext cx="160401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FBF6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65048" y="4092591"/>
            <a:ext cx="10120858" cy="378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Interactive slicers (Product, Region, Month)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Revenue trend analysis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Sales vs calls comparison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Regional sales breakdown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Salesperson performance tracking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Customer satisfaction gauge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endParaRPr lang="en-US" sz="3099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14450"/>
            <a:ext cx="79248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9037"/>
              </a:lnSpc>
            </a:pPr>
            <a:r>
              <a:rPr lang="en-US" sz="10041" spc="-461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Insights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61615"/>
            <a:ext cx="11911963" cy="6959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Key Insights: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Revenue shows high volatility, with sharp spikes indicating seasonal demand or promotional impact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Germany was the top-performing region, contributing the highest sales among all regions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Sales performance varies significantly across representatives, highlighting opportunities for performance optimization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There is a positive relationship between call volume and sales, suggesting that increased customer interactions contribute to higher conversion rates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Customer satisfaction score (0.75) indicates moderate satisfaction, with room for improvement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2277652"/>
            <a:ext cx="8752518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Business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6540"/>
            <a:ext cx="8752518" cy="524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Unifies business metrics in one view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Enables faster and more informed decision-making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Identifies high-performing regions and sales reps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Identifies customer engagement (calls) as a key driver of sales performance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Supports strategies to improve customer satisfaction and profitability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3000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475" y="1314608"/>
            <a:ext cx="7657784" cy="7657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2277652"/>
            <a:ext cx="8752518" cy="69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5040"/>
              </a:lnSpc>
            </a:pPr>
            <a:r>
              <a:rPr lang="en-US" sz="5600" spc="-257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Tools &amp; Skills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4066540"/>
            <a:ext cx="8752518" cy="309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Microsoft Excel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Pivot Tables &amp; Charts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Data Cleaning &amp; Transformation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KPI Development</a:t>
            </a:r>
          </a:p>
          <a:p>
            <a:pPr marL="647698" lvl="1" indent="-323849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Dashboard Design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3000" b="1" dirty="0">
              <a:solidFill>
                <a:srgbClr val="1800AD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475" y="1314608"/>
            <a:ext cx="7657784" cy="7657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87441" y="2958361"/>
            <a:ext cx="6253164" cy="5841351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9905" y="0"/>
                  </a:moveTo>
                  <a:lnTo>
                    <a:pt x="1384268" y="0"/>
                  </a:lnTo>
                  <a:cubicBezTo>
                    <a:pt x="1386895" y="0"/>
                    <a:pt x="1389414" y="1044"/>
                    <a:pt x="1391271" y="2901"/>
                  </a:cubicBezTo>
                  <a:cubicBezTo>
                    <a:pt x="1393129" y="4758"/>
                    <a:pt x="1394172" y="7278"/>
                    <a:pt x="1394172" y="9905"/>
                  </a:cubicBezTo>
                  <a:lnTo>
                    <a:pt x="1394172" y="1292452"/>
                  </a:lnTo>
                  <a:cubicBezTo>
                    <a:pt x="1394172" y="1295079"/>
                    <a:pt x="1393129" y="1297598"/>
                    <a:pt x="1391271" y="1299456"/>
                  </a:cubicBezTo>
                  <a:cubicBezTo>
                    <a:pt x="1389414" y="1301313"/>
                    <a:pt x="1386895" y="1302357"/>
                    <a:pt x="1384268" y="1302357"/>
                  </a:cubicBezTo>
                  <a:lnTo>
                    <a:pt x="9905" y="1302357"/>
                  </a:lnTo>
                  <a:cubicBezTo>
                    <a:pt x="7278" y="1302357"/>
                    <a:pt x="4758" y="1301313"/>
                    <a:pt x="2901" y="1299456"/>
                  </a:cubicBezTo>
                  <a:cubicBezTo>
                    <a:pt x="1044" y="1297598"/>
                    <a:pt x="0" y="1295079"/>
                    <a:pt x="0" y="1292452"/>
                  </a:cubicBezTo>
                  <a:lnTo>
                    <a:pt x="0" y="9905"/>
                  </a:lnTo>
                  <a:cubicBezTo>
                    <a:pt x="0" y="7278"/>
                    <a:pt x="1044" y="4758"/>
                    <a:pt x="2901" y="2901"/>
                  </a:cubicBezTo>
                  <a:cubicBezTo>
                    <a:pt x="4758" y="1044"/>
                    <a:pt x="7278" y="0"/>
                    <a:pt x="9905" y="0"/>
                  </a:cubicBezTo>
                  <a:close/>
                </a:path>
              </a:pathLst>
            </a:custGeom>
            <a:solidFill>
              <a:srgbClr val="D3CBF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23950" y="1314450"/>
            <a:ext cx="16040100" cy="1239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037"/>
              </a:lnSpc>
            </a:pPr>
            <a:r>
              <a:rPr lang="en-US" sz="10041" b="1" spc="-461">
                <a:solidFill>
                  <a:srgbClr val="FBF6F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65048" y="4092591"/>
            <a:ext cx="10120858" cy="161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The dashboard improves visibility into key operations in </a:t>
            </a:r>
            <a:r>
              <a:rPr lang="en-US" sz="3100" dirty="0" err="1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SwiftCart</a:t>
            </a: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 Hub</a:t>
            </a:r>
          </a:p>
          <a:p>
            <a:pPr marL="647698" lvl="1" indent="-323849">
              <a:lnSpc>
                <a:spcPts val="4199"/>
              </a:lnSpc>
              <a:buFont typeface="Arial"/>
              <a:buChar char="•"/>
            </a:pPr>
            <a:r>
              <a:rPr lang="en-US" sz="3100" dirty="0">
                <a:solidFill>
                  <a:srgbClr val="1800AD"/>
                </a:solidFill>
                <a:latin typeface="Georgia" panose="02040502050405020303" pitchFamily="18" charset="0"/>
                <a:sym typeface="TT Interphases Bold"/>
              </a:rPr>
              <a:t>Enables proactive decision-making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0687" y="-220302"/>
            <a:ext cx="16101469" cy="10727604"/>
          </a:xfrm>
          <a:custGeom>
            <a:avLst/>
            <a:gdLst/>
            <a:ahLst/>
            <a:cxnLst/>
            <a:rect l="l" t="t" r="r" b="b"/>
            <a:pathLst>
              <a:path w="16101469" h="10727604">
                <a:moveTo>
                  <a:pt x="0" y="0"/>
                </a:moveTo>
                <a:lnTo>
                  <a:pt x="16101470" y="0"/>
                </a:lnTo>
                <a:lnTo>
                  <a:pt x="16101470" y="10727604"/>
                </a:lnTo>
                <a:lnTo>
                  <a:pt x="0" y="10727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398704" y="-842851"/>
            <a:ext cx="17657252" cy="11782203"/>
          </a:xfrm>
          <a:custGeom>
            <a:avLst/>
            <a:gdLst/>
            <a:ahLst/>
            <a:cxnLst/>
            <a:rect l="l" t="t" r="r" b="b"/>
            <a:pathLst>
              <a:path w="17657252" h="11782203">
                <a:moveTo>
                  <a:pt x="0" y="0"/>
                </a:moveTo>
                <a:lnTo>
                  <a:pt x="17657252" y="0"/>
                </a:lnTo>
                <a:lnTo>
                  <a:pt x="17657252" y="11782202"/>
                </a:lnTo>
                <a:lnTo>
                  <a:pt x="0" y="11782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219200" y="2673375"/>
            <a:ext cx="8144502" cy="517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3331"/>
              </a:lnSpc>
            </a:pPr>
            <a:r>
              <a:rPr lang="en-US" sz="14812" spc="-681">
                <a:solidFill>
                  <a:srgbClr val="1800A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387</Words>
  <Application>Microsoft Office PowerPoint</Application>
  <PresentationFormat>Custom</PresentationFormat>
  <Paragraphs>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TT Interphases Bold</vt:lpstr>
      <vt:lpstr>Aptos</vt:lpstr>
      <vt:lpstr>Georgia</vt:lpstr>
      <vt:lpstr>Calibri</vt:lpstr>
      <vt:lpstr>TT Interphases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Kuroyefa Leghemo</dc:title>
  <cp:lastModifiedBy>Kuroyefa Leghemo</cp:lastModifiedBy>
  <cp:revision>3</cp:revision>
  <dcterms:created xsi:type="dcterms:W3CDTF">2006-08-16T00:00:00Z</dcterms:created>
  <dcterms:modified xsi:type="dcterms:W3CDTF">2026-04-06T05:58:29Z</dcterms:modified>
  <dc:identifier>DAHGDAe25ow</dc:identifier>
</cp:coreProperties>
</file>